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76" r:id="rId3"/>
    <p:sldId id="257" r:id="rId4"/>
    <p:sldId id="266" r:id="rId5"/>
    <p:sldId id="258" r:id="rId6"/>
    <p:sldId id="260" r:id="rId7"/>
    <p:sldId id="259" r:id="rId8"/>
    <p:sldId id="261" r:id="rId9"/>
    <p:sldId id="262" r:id="rId10"/>
    <p:sldId id="263" r:id="rId11"/>
    <p:sldId id="277" r:id="rId12"/>
    <p:sldId id="264" r:id="rId13"/>
    <p:sldId id="269" r:id="rId14"/>
    <p:sldId id="270" r:id="rId15"/>
    <p:sldId id="271" r:id="rId16"/>
    <p:sldId id="272" r:id="rId17"/>
    <p:sldId id="273" r:id="rId18"/>
    <p:sldId id="274" r:id="rId19"/>
    <p:sldId id="278" r:id="rId20"/>
    <p:sldId id="279" r:id="rId21"/>
    <p:sldId id="280" r:id="rId22"/>
    <p:sldId id="281" r:id="rId23"/>
    <p:sldId id="282" r:id="rId24"/>
    <p:sldId id="283" r:id="rId25"/>
    <p:sldId id="275" r:id="rId26"/>
    <p:sldId id="285" r:id="rId27"/>
    <p:sldId id="284" r:id="rId28"/>
    <p:sldId id="287" r:id="rId29"/>
    <p:sldId id="286" r:id="rId30"/>
    <p:sldId id="291" r:id="rId31"/>
    <p:sldId id="292" r:id="rId32"/>
    <p:sldId id="288" r:id="rId33"/>
    <p:sldId id="289" r:id="rId34"/>
    <p:sldId id="290" r:id="rId35"/>
    <p:sldId id="268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CD6F9-EA6F-43B2-89C4-A96A206EBF94}" type="datetimeFigureOut">
              <a:rPr lang="ru-RU" smtClean="0"/>
              <a:t>21.06.2024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271F6-5E44-45B9-B1A5-70EF38D95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67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271F6-5E44-45B9-B1A5-70EF38D9554B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151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BECE21-D556-6935-D5D5-9ED0394D0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1A07B1F-FB34-A14E-6BC7-A3FADBAA1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168F49-F766-7C9E-54D1-9804C6F5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FE7E-2C7C-4775-98AF-A3F3154D7694}" type="datetimeFigureOut">
              <a:rPr lang="ru-RU" smtClean="0"/>
              <a:t>21.06.2024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8000A5-1F63-574B-651A-445E8E0C6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0D3D3B-5DAD-FA40-B0DB-24617FA12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199-3F7A-43CB-8360-EF55A75C7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51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861A2B-14F3-EDE7-CB23-4925F5186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44D0B-56ED-6224-1B0A-DF2E4FABF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FCE2EA-1DCF-D318-3667-00624294E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FE7E-2C7C-4775-98AF-A3F3154D7694}" type="datetimeFigureOut">
              <a:rPr lang="ru-RU" smtClean="0"/>
              <a:t>21.06.2024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5A670A-1CDF-ED48-89E1-91987AD31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148949-4CCA-3DA4-4619-D0D76575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199-3F7A-43CB-8360-EF55A75C7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90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A2B52-912E-6CFF-C261-DA4B6DF48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19DCB2-95C1-2736-CD7D-DD97B641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FAC343-F575-5585-4AED-6F978413F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FE7E-2C7C-4775-98AF-A3F3154D7694}" type="datetimeFigureOut">
              <a:rPr lang="ru-RU" smtClean="0"/>
              <a:t>21.06.2024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086AE0-2848-A4E5-1078-DD2A2C508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66BE63-DE76-1EF2-D359-236C6F26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199-3F7A-43CB-8360-EF55A75C7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60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C89CCE-1ADA-8A38-0139-6C63A5DB7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A48714-E5E9-BCC4-C4FD-9F92FBBF3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81E2A7-10F8-7BFB-3D4D-5021A3182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006BAE-9A27-79EE-A1B5-BD4137B4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FE7E-2C7C-4775-98AF-A3F3154D7694}" type="datetimeFigureOut">
              <a:rPr lang="ru-RU" smtClean="0"/>
              <a:t>21.06.2024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3F5A94-BB92-8320-8CFE-6DA10887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12FAA3-CDB7-60DF-367B-E99C52ADF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199-3F7A-43CB-8360-EF55A75C7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983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90E691-6CBE-F2B8-820F-591E0F05A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1CFBD5-7224-061E-61C7-D6248C2DC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8AAF0D-1A3C-B6B5-AFAD-AE2403CB3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91F9B8-40C3-46E4-4008-900A9C295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A1F22C0-B798-3915-8BF6-397DDC5B9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E96A5D7-8AB3-AB52-57FC-23D3C338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FE7E-2C7C-4775-98AF-A3F3154D7694}" type="datetimeFigureOut">
              <a:rPr lang="ru-RU" smtClean="0"/>
              <a:t>21.06.2024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11BBBC0-BAF1-61E6-C478-7AA097E3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4353684-BFDC-4457-53B4-68C70BB1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199-3F7A-43CB-8360-EF55A75C7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482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490C60-7D42-C4E1-A4F5-8C9F3619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2724E6B-D915-3344-3EEC-4201D0C8D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FE7E-2C7C-4775-98AF-A3F3154D7694}" type="datetimeFigureOut">
              <a:rPr lang="ru-RU" smtClean="0"/>
              <a:t>21.06.2024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72F7F94-A01D-8646-34AF-25CC2311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D8A01F-6202-849D-EACF-6546A8AF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199-3F7A-43CB-8360-EF55A75C7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75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D799B7-13BE-6B09-FF74-2134D34B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FE7E-2C7C-4775-98AF-A3F3154D7694}" type="datetimeFigureOut">
              <a:rPr lang="ru-RU" smtClean="0"/>
              <a:t>21.06.2024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39518D0-ECD0-F5A2-D339-5C4A46DCF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5A88C4-388B-D950-EE79-7E75091E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199-3F7A-43CB-8360-EF55A75C7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947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BA5D02-BA57-7702-27A3-AC106F71D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EDAF85-83A9-473E-314A-E425CC6E7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8DAC93-A6F9-507C-8DCB-ADDDFC843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219C68-93CD-A204-1513-7D8EFF8EE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FE7E-2C7C-4775-98AF-A3F3154D7694}" type="datetimeFigureOut">
              <a:rPr lang="ru-RU" smtClean="0"/>
              <a:t>21.06.2024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4F74F4-8497-B907-05EE-FD4E8A04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98617A-B111-BE86-9EAF-7E37B181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199-3F7A-43CB-8360-EF55A75C7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62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D033F-E7CF-2716-A183-22CFC7A8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9CD464-9599-5730-1BB5-B0BFD6002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B18ACA-21EB-1BFF-E6B1-04BA6B44D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9F467A-B834-E6D8-C09E-CBAD56510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FE7E-2C7C-4775-98AF-A3F3154D7694}" type="datetimeFigureOut">
              <a:rPr lang="ru-RU" smtClean="0"/>
              <a:t>21.06.2024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A1FADC-D2ED-7AB0-A02A-B6E655A38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9753E7-2D88-0170-D7B2-936F8C74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199-3F7A-43CB-8360-EF55A75C7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390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1C962-6184-D01C-638C-65AFF8EC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B63335-CA54-334C-4A95-28783F79C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1B0109-1ED7-E9D5-767B-1CEDD201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FE7E-2C7C-4775-98AF-A3F3154D7694}" type="datetimeFigureOut">
              <a:rPr lang="ru-RU" smtClean="0"/>
              <a:t>21.06.2024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69F2B3-F1D0-2AD5-1F15-3193BFE75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5BCB5A-5E95-7116-F880-10D0AAC9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199-3F7A-43CB-8360-EF55A75C7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781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6951891-AB44-1FBB-549E-582373C8D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E80EC2-936A-76A5-F052-182843FCC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D8271-A888-04D4-FCE2-3643A5E24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FE7E-2C7C-4775-98AF-A3F3154D7694}" type="datetimeFigureOut">
              <a:rPr lang="ru-RU" smtClean="0"/>
              <a:t>21.06.2024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D1140E-2986-8702-200B-268E8C582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35F31D-4EA7-CB5A-4ED1-678B399E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199-3F7A-43CB-8360-EF55A75C7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9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ADD4D-9F75-C272-D1C1-50CF37873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F55595-C40B-7001-111B-32A69AE8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E4765B-3D5B-8307-320A-F36EC1700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7FE7E-2C7C-4775-98AF-A3F3154D7694}" type="datetimeFigureOut">
              <a:rPr lang="ru-RU" smtClean="0"/>
              <a:t>21.06.2024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CF0DC0-9D06-BB84-556E-C78BC1992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E25166-D54D-03A8-E14E-2EAC7173D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3A199-3F7A-43CB-8360-EF55A75C7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3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DE518A-25C2-0FC3-D171-853010D7A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3404" y="573432"/>
            <a:ext cx="8405191" cy="2053535"/>
          </a:xfrm>
        </p:spPr>
        <p:txBody>
          <a:bodyPr>
            <a:normAutofit/>
          </a:bodyPr>
          <a:lstStyle/>
          <a:p>
            <a:r>
              <a:rPr lang="ru-RU" sz="4400" dirty="0"/>
              <a:t>Исследование методов </a:t>
            </a:r>
            <a:r>
              <a:rPr lang="ru-RU" sz="4400" dirty="0" err="1"/>
              <a:t>дообучения</a:t>
            </a:r>
            <a:r>
              <a:rPr lang="ru-RU" sz="4400" dirty="0"/>
              <a:t> языковых моделей малого размера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562808-C5F1-E164-8AF5-CF69D43D4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4434838"/>
            <a:ext cx="9144000" cy="1655762"/>
          </a:xfrm>
        </p:spPr>
        <p:txBody>
          <a:bodyPr/>
          <a:lstStyle/>
          <a:p>
            <a:pPr algn="l"/>
            <a:br>
              <a:rPr lang="ru-RU" dirty="0"/>
            </a:br>
            <a:br>
              <a:rPr lang="ru-RU" dirty="0"/>
            </a:br>
            <a:r>
              <a:rPr lang="ru-RU" sz="2200" dirty="0"/>
              <a:t>Кратков Егор</a:t>
            </a:r>
            <a:br>
              <a:rPr lang="ru-RU" sz="2200" dirty="0"/>
            </a:br>
            <a:r>
              <a:rPr lang="ru-RU" sz="2200" dirty="0"/>
              <a:t>Научный руководитель: Павел Воропаев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32432-5D74-4640-A4B8-5AE96003A3E7}"/>
              </a:ext>
            </a:extLst>
          </p:cNvPr>
          <p:cNvSpPr txBox="1"/>
          <p:nvPr/>
        </p:nvSpPr>
        <p:spPr>
          <a:xfrm>
            <a:off x="609601" y="4360796"/>
            <a:ext cx="63311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/>
              <a:t>Кафедра интеллектуальной обработки документов</a:t>
            </a:r>
          </a:p>
        </p:txBody>
      </p:sp>
    </p:spTree>
    <p:extLst>
      <p:ext uri="{BB962C8B-B14F-4D97-AF65-F5344CB8AC3E}">
        <p14:creationId xmlns:p14="http://schemas.microsoft.com/office/powerpoint/2010/main" val="3919123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4E320-2014-A861-9EA9-D65EC243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Цель исследования</a:t>
            </a:r>
            <a:endParaRPr lang="ru-RU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74182-30E0-E35C-70E8-F360E9693F24}"/>
              </a:ext>
            </a:extLst>
          </p:cNvPr>
          <p:cNvSpPr txBox="1"/>
          <p:nvPr/>
        </p:nvSpPr>
        <p:spPr>
          <a:xfrm>
            <a:off x="993785" y="1554914"/>
            <a:ext cx="8913786" cy="1055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1000"/>
              </a:spcAft>
            </a:pPr>
            <a:r>
              <a:rPr lang="ru-RU" sz="2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сравнить методы дообучения языковых моделей малого размера по качеству, времени, памяти и выявить лучшие.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3D015-6F4F-282A-A7ED-0DC0BE0B985F}"/>
              </a:ext>
            </a:extLst>
          </p:cNvPr>
          <p:cNvSpPr txBox="1"/>
          <p:nvPr/>
        </p:nvSpPr>
        <p:spPr>
          <a:xfrm>
            <a:off x="993785" y="3800248"/>
            <a:ext cx="9257493" cy="257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2200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сфера дообучения </a:t>
            </a:r>
            <a:r>
              <a:rPr lang="ru-RU" sz="2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активно развивается, выходят новые методы, авторы утверждают, что они превосходят предыдущие, а современные исследования, как правило, сосредоточены на больших моделях, поэтому важно сравнить их поведение при различных параметрах на малых моделях в условиях ограниченных ресурсов.</a:t>
            </a:r>
            <a:endParaRPr lang="ru-RU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1108A-FCCD-5D94-7ECF-3606354F1CB9}"/>
              </a:ext>
            </a:extLst>
          </p:cNvPr>
          <p:cNvSpPr txBox="1"/>
          <p:nvPr/>
        </p:nvSpPr>
        <p:spPr>
          <a:xfrm>
            <a:off x="838200" y="3059668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+mj-lt"/>
              </a:rPr>
              <a:t>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221302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4DCD1-030D-8C4D-D856-1252B2E5E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430"/>
            <a:ext cx="10515600" cy="946840"/>
          </a:xfrm>
        </p:spPr>
        <p:txBody>
          <a:bodyPr/>
          <a:lstStyle/>
          <a:p>
            <a:r>
              <a:rPr lang="ru-RU" dirty="0"/>
              <a:t>Постановка задачи: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611A2B-CA1E-8B58-3B38-B8A4F003B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356"/>
            <a:ext cx="10515600" cy="2460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1) </a:t>
            </a:r>
            <a:r>
              <a:rPr lang="ru-RU" sz="2200" dirty="0"/>
              <a:t>Дана языковая </a:t>
            </a:r>
            <a:r>
              <a:rPr lang="en-US" sz="2200" dirty="0"/>
              <a:t>LLM</a:t>
            </a:r>
            <a:r>
              <a:rPr lang="ru-RU" sz="2200" dirty="0"/>
              <a:t> модель малого размера </a:t>
            </a:r>
            <a:r>
              <a:rPr lang="en-US" sz="2200" dirty="0"/>
              <a:t>(</a:t>
            </a:r>
            <a:r>
              <a:rPr lang="ru-RU" sz="2200" dirty="0"/>
              <a:t>берт) (около 100</a:t>
            </a:r>
            <a:r>
              <a:rPr lang="en-US" sz="2200" dirty="0"/>
              <a:t>M</a:t>
            </a:r>
            <a:r>
              <a:rPr lang="ru-RU" sz="2200" dirty="0"/>
              <a:t> параметров</a:t>
            </a:r>
            <a:r>
              <a:rPr lang="en-US" sz="2200" dirty="0"/>
              <a:t>)</a:t>
            </a:r>
            <a:endParaRPr lang="ru-RU" sz="2200" dirty="0"/>
          </a:p>
          <a:p>
            <a:pPr marL="0" indent="0">
              <a:buNone/>
            </a:pPr>
            <a:r>
              <a:rPr lang="en-US" sz="2200" dirty="0"/>
              <a:t>2) </a:t>
            </a:r>
            <a:r>
              <a:rPr lang="ru-RU" sz="2200" dirty="0"/>
              <a:t>Набор </a:t>
            </a:r>
            <a:r>
              <a:rPr lang="ru-RU" sz="2200" dirty="0" err="1"/>
              <a:t>датасетов</a:t>
            </a:r>
            <a:r>
              <a:rPr lang="ru-RU" sz="2200" dirty="0"/>
              <a:t> для </a:t>
            </a:r>
            <a:r>
              <a:rPr lang="ru-RU" sz="2200" dirty="0" err="1"/>
              <a:t>дообучения</a:t>
            </a:r>
            <a:endParaRPr lang="ru-RU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dirty="0"/>
              <a:t>3) 3-4 </a:t>
            </a:r>
            <a:r>
              <a:rPr lang="ru-RU" sz="2200" dirty="0"/>
              <a:t>метода дообучения, которые нужно будет сравнить по качеству, </a:t>
            </a:r>
            <a:r>
              <a:rPr lang="en-US" sz="2200" dirty="0"/>
              <a:t> </a:t>
            </a:r>
            <a:r>
              <a:rPr lang="ru-RU" sz="2200" dirty="0"/>
              <a:t>времени дообучения и использованной памятью </a:t>
            </a:r>
            <a:r>
              <a:rPr lang="en-US" sz="2200" dirty="0"/>
              <a:t>GPU + </a:t>
            </a:r>
            <a:r>
              <a:rPr lang="ru-RU" sz="2200" dirty="0"/>
              <a:t>получить воспроизводимые 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1351725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50046B-4D2B-38DA-1C69-5265268E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работы: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1B3A7A-979A-4E19-2BD4-D8CE83157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927" y="1819373"/>
            <a:ext cx="11642102" cy="4357590"/>
          </a:xfrm>
        </p:spPr>
        <p:txBody>
          <a:bodyPr/>
          <a:lstStyle/>
          <a:p>
            <a:r>
              <a:rPr lang="ru-RU" dirty="0"/>
              <a:t>декабрь-февраль: изучения теории</a:t>
            </a:r>
          </a:p>
          <a:p>
            <a:r>
              <a:rPr lang="ru-RU" dirty="0"/>
              <a:t>февраль-март</a:t>
            </a:r>
            <a:r>
              <a:rPr lang="en-US" dirty="0"/>
              <a:t>: </a:t>
            </a:r>
            <a:r>
              <a:rPr lang="ru-RU" dirty="0" err="1"/>
              <a:t>бейзлайн</a:t>
            </a:r>
            <a:r>
              <a:rPr lang="ru-RU" dirty="0"/>
              <a:t> </a:t>
            </a:r>
            <a:r>
              <a:rPr lang="en-US" dirty="0"/>
              <a:t>FT</a:t>
            </a:r>
            <a:r>
              <a:rPr lang="ru-RU" dirty="0"/>
              <a:t>(</a:t>
            </a:r>
            <a:r>
              <a:rPr lang="en-US" dirty="0"/>
              <a:t>full) </a:t>
            </a:r>
            <a:r>
              <a:rPr lang="ru-RU" dirty="0"/>
              <a:t>и </a:t>
            </a:r>
            <a:r>
              <a:rPr lang="en-US" dirty="0" err="1"/>
              <a:t>LoRA</a:t>
            </a:r>
            <a:r>
              <a:rPr lang="ru-RU" dirty="0"/>
              <a:t> на одном </a:t>
            </a:r>
            <a:r>
              <a:rPr lang="ru-RU" dirty="0" err="1"/>
              <a:t>датасете</a:t>
            </a:r>
            <a:endParaRPr lang="ru-RU" dirty="0"/>
          </a:p>
          <a:p>
            <a:r>
              <a:rPr lang="ru-RU" dirty="0"/>
              <a:t>конец марта-начало апреля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ru-RU" dirty="0" err="1"/>
              <a:t>гиперпараметры</a:t>
            </a:r>
            <a:r>
              <a:rPr lang="ru-RU" dirty="0"/>
              <a:t> </a:t>
            </a:r>
            <a:r>
              <a:rPr lang="en-US" dirty="0" err="1"/>
              <a:t>LoRA</a:t>
            </a:r>
            <a:r>
              <a:rPr lang="en-US" dirty="0"/>
              <a:t>  </a:t>
            </a:r>
            <a:endParaRPr lang="ru-RU" dirty="0"/>
          </a:p>
          <a:p>
            <a:r>
              <a:rPr lang="ru-RU" dirty="0"/>
              <a:t>апрель-май</a:t>
            </a:r>
            <a:r>
              <a:rPr lang="en-US" dirty="0"/>
              <a:t>: </a:t>
            </a:r>
            <a:r>
              <a:rPr lang="ru-RU" dirty="0"/>
              <a:t>проверка на других </a:t>
            </a:r>
            <a:r>
              <a:rPr lang="ru-RU" dirty="0" err="1"/>
              <a:t>датасетах</a:t>
            </a:r>
            <a:r>
              <a:rPr lang="ru-RU" dirty="0"/>
              <a:t> и использование других методов: например </a:t>
            </a:r>
            <a:r>
              <a:rPr lang="en-US" dirty="0"/>
              <a:t>IA3, </a:t>
            </a:r>
            <a:r>
              <a:rPr lang="en-US" dirty="0" err="1"/>
              <a:t>AdaLora</a:t>
            </a:r>
            <a:endParaRPr lang="en-US" dirty="0"/>
          </a:p>
          <a:p>
            <a:r>
              <a:rPr lang="ru-RU" dirty="0"/>
              <a:t>май-июнь: завершение</a:t>
            </a:r>
          </a:p>
        </p:txBody>
      </p:sp>
    </p:spTree>
    <p:extLst>
      <p:ext uri="{BB962C8B-B14F-4D97-AF65-F5344CB8AC3E}">
        <p14:creationId xmlns:p14="http://schemas.microsoft.com/office/powerpoint/2010/main" val="3850438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C1B06-23CC-AB45-4356-F3E10B475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16" y="285613"/>
            <a:ext cx="11794435" cy="1036292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Модель</a:t>
            </a:r>
            <a:r>
              <a:rPr lang="en-US" sz="3200" dirty="0"/>
              <a:t>: </a:t>
            </a:r>
            <a:r>
              <a:rPr lang="en-US" sz="3200" dirty="0" err="1"/>
              <a:t>RoBERTa</a:t>
            </a:r>
            <a:r>
              <a:rPr lang="en-US" sz="3200" dirty="0"/>
              <a:t>: A Robustly Optimized BERT Pretraining Approach  </a:t>
            </a:r>
            <a:endParaRPr lang="ru-RU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705C4A-3177-34C9-3787-FAFE4CE92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90" y="3773488"/>
            <a:ext cx="4764846" cy="279889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779BF2B-CFDE-2D85-8120-7B0E9251D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7" y="1151360"/>
            <a:ext cx="6520242" cy="270750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9913ED-EBB7-6758-E753-99A885C511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040" y="1321905"/>
            <a:ext cx="5671159" cy="410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62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37EF9-733A-B64C-0DB8-DD44276FC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0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 err="1"/>
              <a:t>Датасеты</a:t>
            </a:r>
            <a:r>
              <a:rPr lang="en-US" sz="3600" dirty="0"/>
              <a:t>: </a:t>
            </a:r>
            <a:r>
              <a:rPr lang="ru-RU" sz="3600" dirty="0"/>
              <a:t>выбраны из </a:t>
            </a:r>
            <a:r>
              <a:rPr lang="en-US" sz="3600" dirty="0"/>
              <a:t>GLUE </a:t>
            </a:r>
            <a:r>
              <a:rPr lang="ru-RU" sz="3600" dirty="0"/>
              <a:t>и </a:t>
            </a:r>
            <a:r>
              <a:rPr lang="en-US" sz="3600" dirty="0" err="1"/>
              <a:t>SuperGlUE</a:t>
            </a: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6B4303-7F73-57DD-A5B3-4C5F5BA5B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1" y="1361661"/>
            <a:ext cx="5690756" cy="513121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CC8511-B104-6B9B-A3EC-26F25C87A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625" y="1217603"/>
            <a:ext cx="5504018" cy="519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59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7E289-81EC-D21B-369E-0D0D46D76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GLUE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C3A0E26-C48A-596E-7B1A-4BFB9E86D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300" y="1174734"/>
            <a:ext cx="8789880" cy="538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58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3E991-C7C3-831E-0C26-B45D2A57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71" y="112602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SuperGLUE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3D095EB-9DEE-2CCE-5E74-E99390A97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56349"/>
            <a:ext cx="5860330" cy="5136526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2CBD5F-3C7F-88EE-9426-48C8FBBCB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8" y="1438165"/>
            <a:ext cx="6344239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89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816CF4-0A40-CD36-3887-35A8C87E3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5219" y="120028"/>
            <a:ext cx="10515600" cy="1325563"/>
          </a:xfrm>
        </p:spPr>
        <p:txBody>
          <a:bodyPr>
            <a:normAutofit/>
          </a:bodyPr>
          <a:lstStyle/>
          <a:p>
            <a:r>
              <a:rPr lang="ru-RU" sz="3800" dirty="0" err="1"/>
              <a:t>Датасеты</a:t>
            </a:r>
            <a:r>
              <a:rPr lang="ru-RU" sz="3800" dirty="0"/>
              <a:t> для </a:t>
            </a:r>
            <a:r>
              <a:rPr lang="ru-RU" sz="3800" dirty="0" err="1"/>
              <a:t>дообучения</a:t>
            </a:r>
            <a:endParaRPr lang="ru-RU" sz="3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62CA18-566C-85BB-4232-E7366F72E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678" y="1825624"/>
            <a:ext cx="5647441" cy="2293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1) </a:t>
            </a:r>
            <a:r>
              <a:rPr lang="en-US" sz="2200" dirty="0" err="1"/>
              <a:t>mrpc</a:t>
            </a:r>
            <a:r>
              <a:rPr lang="en-US" sz="2200" dirty="0"/>
              <a:t> (paraphrase, glue, 5.8k)</a:t>
            </a:r>
          </a:p>
          <a:p>
            <a:pPr marL="0" indent="0">
              <a:buNone/>
            </a:pPr>
            <a:r>
              <a:rPr lang="en-US" sz="2200" dirty="0"/>
              <a:t>2) </a:t>
            </a:r>
            <a:r>
              <a:rPr lang="en-US" sz="2200" dirty="0" err="1"/>
              <a:t>cb</a:t>
            </a:r>
            <a:r>
              <a:rPr lang="en-US" sz="2200" dirty="0"/>
              <a:t> (entailment, superglue, 556) </a:t>
            </a:r>
          </a:p>
          <a:p>
            <a:pPr marL="0" indent="0">
              <a:buNone/>
            </a:pPr>
            <a:r>
              <a:rPr lang="en-US" sz="2200" dirty="0"/>
              <a:t>3) </a:t>
            </a:r>
            <a:r>
              <a:rPr lang="en-US" sz="2200" dirty="0" err="1"/>
              <a:t>boolq</a:t>
            </a:r>
            <a:r>
              <a:rPr lang="en-US" sz="2200" dirty="0"/>
              <a:t> (QA, superglue, 15.9k)</a:t>
            </a:r>
          </a:p>
          <a:p>
            <a:pPr marL="0" indent="0">
              <a:buNone/>
            </a:pPr>
            <a:r>
              <a:rPr lang="en-US" sz="2200" dirty="0"/>
              <a:t>4) </a:t>
            </a:r>
            <a:r>
              <a:rPr lang="en-US" sz="2200" dirty="0" err="1"/>
              <a:t>rte</a:t>
            </a:r>
            <a:r>
              <a:rPr lang="en-US" sz="2200" dirty="0"/>
              <a:t> (</a:t>
            </a:r>
            <a:r>
              <a:rPr lang="en-US" sz="2200" dirty="0" err="1"/>
              <a:t>entaliment</a:t>
            </a:r>
            <a:r>
              <a:rPr lang="en-US" sz="2200" dirty="0"/>
              <a:t>, superglue, 5.77k</a:t>
            </a:r>
            <a:r>
              <a:rPr lang="ru-RU" sz="2200" dirty="0"/>
              <a:t>)</a:t>
            </a:r>
            <a:endParaRPr lang="en-US" sz="2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59821E-FD2A-10D9-31BB-6514311BA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641" y="1825624"/>
            <a:ext cx="5135456" cy="375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76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4C37A-E973-E41B-F6FE-6465DAFC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/>
              <a:t>Методы </a:t>
            </a:r>
            <a:r>
              <a:rPr lang="ru-RU" sz="4000" dirty="0" err="1"/>
              <a:t>дообучения</a:t>
            </a:r>
            <a:r>
              <a:rPr lang="ru-RU" sz="4000" dirty="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FDB92D-2B14-D7B1-1EA1-D0E6A9B8DC8F}"/>
              </a:ext>
            </a:extLst>
          </p:cNvPr>
          <p:cNvSpPr txBox="1"/>
          <p:nvPr/>
        </p:nvSpPr>
        <p:spPr>
          <a:xfrm>
            <a:off x="4100661" y="1562415"/>
            <a:ext cx="3591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Полная разморозка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EB29773-2BD7-FD82-075B-BAF870894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872" y="2207110"/>
            <a:ext cx="7359190" cy="428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414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D8C54-0CAA-441B-BA9F-775C3943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Parameter-Efficient Fine-Tuning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5EC8AE-88DC-F04C-E341-68A14AE79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селективные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Top layers, </a:t>
            </a:r>
            <a:r>
              <a:rPr lang="en-US" dirty="0" err="1"/>
              <a:t>BitFit</a:t>
            </a:r>
            <a:endParaRPr lang="en-US" dirty="0"/>
          </a:p>
          <a:p>
            <a:r>
              <a:rPr lang="ru-RU" dirty="0"/>
              <a:t>Аддитивные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dirty="0"/>
              <a:t>Адаптер (</a:t>
            </a:r>
            <a:r>
              <a:rPr lang="en-US" dirty="0" err="1"/>
              <a:t>Houlsby</a:t>
            </a:r>
            <a:r>
              <a:rPr lang="en-US" dirty="0"/>
              <a:t>, 2019), prompt-tuning</a:t>
            </a:r>
          </a:p>
          <a:p>
            <a:r>
              <a:rPr lang="ru-RU" dirty="0" err="1"/>
              <a:t>Репараметризация</a:t>
            </a:r>
            <a:r>
              <a:rPr lang="ru-RU" dirty="0"/>
              <a:t>:</a:t>
            </a:r>
          </a:p>
          <a:p>
            <a:pPr marL="914400" lvl="2" indent="0">
              <a:buNone/>
            </a:pPr>
            <a:r>
              <a:rPr lang="en-US" sz="2800" dirty="0"/>
              <a:t>LoRa, </a:t>
            </a:r>
            <a:r>
              <a:rPr lang="en-US" sz="2800" dirty="0" err="1"/>
              <a:t>AdaLoRa</a:t>
            </a:r>
            <a:endParaRPr lang="en-US" sz="2800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581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159EF-1F77-F519-E504-F3A1437C4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LoRA</a:t>
            </a:r>
            <a:r>
              <a:rPr lang="en-US" dirty="0"/>
              <a:t>: Low-Rank Adaptation of LLMs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9F108F3-BE96-B94F-15E5-307F0C81E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991" y="2193267"/>
            <a:ext cx="3450390" cy="3303804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30F855-609E-4831-50B3-BD5E13422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19" y="2005554"/>
            <a:ext cx="7957116" cy="367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20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79A23-41F9-36A7-8116-1E02745B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IA3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B1492E-CA55-7993-F5F0-FD9D70CF3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59" y="1569744"/>
            <a:ext cx="5160650" cy="31261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C7B87A4-26AC-5973-0042-4C18E0EBA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351" y="2718589"/>
            <a:ext cx="5484790" cy="142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3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6DE92-19A5-B25F-64FD-2499FA7E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AdaLora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C4682-496C-FC8C-F348-AEED70549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725" y="4760537"/>
            <a:ext cx="9772549" cy="8201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855992-D8DE-AE14-478E-935095162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427" y="1776854"/>
            <a:ext cx="8283658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50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8EBEF5-AFD0-06FF-648D-54BB6A78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Проделанная работа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937D08-5FD4-15CB-712B-2A548CC2B80C}"/>
              </a:ext>
            </a:extLst>
          </p:cNvPr>
          <p:cNvSpPr txBox="1"/>
          <p:nvPr/>
        </p:nvSpPr>
        <p:spPr>
          <a:xfrm>
            <a:off x="1698396" y="1530685"/>
            <a:ext cx="879520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Написан</a:t>
            </a:r>
            <a:r>
              <a:rPr lang="en-US" sz="2600" dirty="0"/>
              <a:t> </a:t>
            </a:r>
            <a:r>
              <a:rPr lang="ru-RU" sz="2600" dirty="0"/>
              <a:t>и оформлен в проект код для запуска всех методов</a:t>
            </a:r>
          </a:p>
        </p:txBody>
      </p:sp>
    </p:spTree>
    <p:extLst>
      <p:ext uri="{BB962C8B-B14F-4D97-AF65-F5344CB8AC3E}">
        <p14:creationId xmlns:p14="http://schemas.microsoft.com/office/powerpoint/2010/main" val="3327834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ECC1B7A-6903-28D6-A156-4CC9D3B9C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1" y="130181"/>
            <a:ext cx="6203623" cy="659763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A28F1B-5756-D8AB-6ED3-9AFDF6E4A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423" y="130181"/>
            <a:ext cx="4780290" cy="579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22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EEE97-FAB6-842C-E291-138D88D6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Запущены </a:t>
            </a:r>
            <a:r>
              <a:rPr lang="en-US" dirty="0" err="1"/>
              <a:t>FullFT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LoRa, Ia3, </a:t>
            </a:r>
            <a:r>
              <a:rPr lang="en-US" dirty="0" err="1"/>
              <a:t>AdaLoRa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FC9A41-27CB-F378-55D5-3B3DBF093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22" y="1690688"/>
            <a:ext cx="5976084" cy="30981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DF7CE5-267D-D54E-3EFE-35E95DF47A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004" y="1690688"/>
            <a:ext cx="5195574" cy="3865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34759E-B3AE-706C-0FDB-C1E6F40A2F96}"/>
              </a:ext>
            </a:extLst>
          </p:cNvPr>
          <p:cNvSpPr txBox="1"/>
          <p:nvPr/>
        </p:nvSpPr>
        <p:spPr>
          <a:xfrm>
            <a:off x="838200" y="5222449"/>
            <a:ext cx="23103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learning rate: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FullFt</a:t>
            </a:r>
            <a:r>
              <a:rPr lang="en-US" dirty="0"/>
              <a:t>: 2e-5, 5e-5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LoRa: 5e-4, 7e-4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IA3: 5e-3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AdaLora</a:t>
            </a:r>
            <a:r>
              <a:rPr lang="en-US" dirty="0"/>
              <a:t>: 1e-3, 2e-3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4102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8C256-B249-D75E-923C-4F60B7744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402"/>
            <a:ext cx="10515600" cy="93654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/>
              <a:t>Проведено более 800 экспериментов: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918F2-64BE-4F4F-BB0E-FDE61F423EDC}"/>
              </a:ext>
            </a:extLst>
          </p:cNvPr>
          <p:cNvSpPr txBox="1"/>
          <p:nvPr/>
        </p:nvSpPr>
        <p:spPr>
          <a:xfrm>
            <a:off x="668020" y="4407835"/>
            <a:ext cx="108559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Основные гипотезы</a:t>
            </a:r>
            <a:r>
              <a:rPr lang="en-US" sz="2200" dirty="0"/>
              <a:t>:</a:t>
            </a:r>
          </a:p>
          <a:p>
            <a:r>
              <a:rPr lang="en-US" sz="2200" dirty="0"/>
              <a:t>1) r = alpha, r = 2alpha – lora paper, </a:t>
            </a:r>
            <a:r>
              <a:rPr lang="en-US" sz="2200" dirty="0" err="1"/>
              <a:t>microsoft</a:t>
            </a:r>
            <a:r>
              <a:rPr lang="en-US" sz="2200" dirty="0"/>
              <a:t> + </a:t>
            </a:r>
            <a:r>
              <a:rPr lang="ru-RU" sz="2200" dirty="0"/>
              <a:t>эксперименты на </a:t>
            </a:r>
            <a:r>
              <a:rPr lang="en-US" sz="2200" dirty="0"/>
              <a:t>Llama 7B</a:t>
            </a:r>
          </a:p>
          <a:p>
            <a:r>
              <a:rPr lang="en-US" sz="2200" dirty="0"/>
              <a:t>2) We find </a:t>
            </a:r>
            <a:r>
              <a:rPr lang="en-US" sz="2200" dirty="0" err="1"/>
              <a:t>LoRA</a:t>
            </a:r>
            <a:r>
              <a:rPr lang="en-US" sz="2200" dirty="0"/>
              <a:t> r is unrelated to final performance - </a:t>
            </a:r>
            <a:r>
              <a:rPr lang="en-US" sz="2200" dirty="0" err="1"/>
              <a:t>qlora</a:t>
            </a:r>
            <a:r>
              <a:rPr lang="en-US" sz="2200" dirty="0"/>
              <a:t> paper, r &gt;= 8, alpha =</a:t>
            </a:r>
            <a:r>
              <a:rPr lang="ru-RU" sz="2200" dirty="0"/>
              <a:t> достаточно большая (=64)</a:t>
            </a:r>
          </a:p>
          <a:p>
            <a:r>
              <a:rPr lang="ru-RU" sz="2200" dirty="0"/>
              <a:t>3) </a:t>
            </a:r>
            <a:r>
              <a:rPr lang="en-US" sz="2200" dirty="0" err="1"/>
              <a:t>LoRA</a:t>
            </a:r>
            <a:r>
              <a:rPr lang="en-US" sz="2200" dirty="0"/>
              <a:t> is used on all layers</a:t>
            </a:r>
            <a:r>
              <a:rPr lang="ru-RU" sz="2200" dirty="0"/>
              <a:t> –</a:t>
            </a:r>
            <a:r>
              <a:rPr lang="en-US" sz="2200" dirty="0"/>
              <a:t> </a:t>
            </a:r>
            <a:r>
              <a:rPr lang="en-US" sz="2200" dirty="0" err="1"/>
              <a:t>qlora</a:t>
            </a:r>
            <a:r>
              <a:rPr lang="en-US" sz="2200" dirty="0"/>
              <a:t> paper</a:t>
            </a:r>
          </a:p>
          <a:p>
            <a:r>
              <a:rPr lang="ru-RU" sz="2200" dirty="0"/>
              <a:t>3</a:t>
            </a:r>
            <a:r>
              <a:rPr lang="en-US" sz="2200" dirty="0"/>
              <a:t>) r &gt; alpha – </a:t>
            </a:r>
            <a:r>
              <a:rPr lang="en-US" sz="2200" dirty="0" err="1"/>
              <a:t>qlora</a:t>
            </a:r>
            <a:r>
              <a:rPr lang="en-US" sz="2200" dirty="0"/>
              <a:t> </a:t>
            </a:r>
            <a:r>
              <a:rPr lang="ru-RU" sz="2200" dirty="0"/>
              <a:t>на больших моделях</a:t>
            </a:r>
            <a:r>
              <a:rPr lang="en-US" sz="2200" dirty="0"/>
              <a:t>: &gt;= 7B </a:t>
            </a:r>
            <a:endParaRPr lang="ru-RU" sz="2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A70B4B-CFD3-9A59-CAF5-805000289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172" y="572584"/>
            <a:ext cx="5741709" cy="3755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8EBFA00-733C-70EC-120B-E0BB2C2E3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222" y="942098"/>
            <a:ext cx="2370025" cy="256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593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1B12297-6B3F-A885-A5C1-9CAA5D3B6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66" y="439885"/>
            <a:ext cx="2310353" cy="5310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MRPC: seed=42, 1</a:t>
            </a:r>
            <a:endParaRPr lang="ru-R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8E07AD-FE7A-02C5-BD75-1EA4DAA35C36}"/>
              </a:ext>
            </a:extLst>
          </p:cNvPr>
          <p:cNvSpPr txBox="1"/>
          <p:nvPr/>
        </p:nvSpPr>
        <p:spPr>
          <a:xfrm>
            <a:off x="7161884" y="439885"/>
            <a:ext cx="1845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RTE: seed=42</a:t>
            </a:r>
            <a:endParaRPr lang="ru-RU" sz="2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2AEC2A1-B17F-2C38-E36A-11A768888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8913"/>
            <a:ext cx="5117839" cy="361875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CE36393-EB21-6AEF-86BE-177CC98D4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839" y="1188913"/>
            <a:ext cx="5725996" cy="3618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4208F33-22D7-DDEF-B1FB-4DB1290434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1183" y="1334274"/>
            <a:ext cx="1266825" cy="33280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620933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7458A-54FE-4C2D-2B14-EDB2E309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LoRa alpha, rank</a:t>
            </a:r>
            <a:r>
              <a:rPr lang="ru-RU" dirty="0"/>
              <a:t>: 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B1571F-FBA6-0294-8038-22C096D0F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46443" cy="2039365"/>
          </a:xfrm>
        </p:spPr>
        <p:txBody>
          <a:bodyPr>
            <a:normAutofit fontScale="85000" lnSpcReduction="20000"/>
          </a:bodyPr>
          <a:lstStyle/>
          <a:p>
            <a:pPr marL="342900" lvl="0" indent="-342900">
              <a:lnSpc>
                <a:spcPct val="107000"/>
              </a:lnSpc>
              <a:spcAft>
                <a:spcPts val="200"/>
              </a:spcAft>
              <a:buFont typeface="+mj-lt"/>
              <a:buAutoNum type="arabicParenR"/>
            </a:pPr>
            <a:r>
              <a:rPr lang="ru-RU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 увеличении 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rank </a:t>
            </a:r>
            <a:r>
              <a:rPr lang="ru-RU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alpha</a:t>
            </a:r>
            <a:r>
              <a:rPr lang="ru-RU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результаты становятся лучше</a:t>
            </a: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Font typeface="+mj-lt"/>
              <a:buAutoNum type="arabicParenR"/>
            </a:pPr>
            <a:r>
              <a:rPr lang="ru-RU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 небольшо</a:t>
            </a:r>
            <a:r>
              <a:rPr lang="ru-RU" sz="2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</a:t>
            </a:r>
            <a:r>
              <a:rPr lang="en-US" sz="2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rank – </a:t>
            </a:r>
            <a:r>
              <a:rPr lang="ru-RU" sz="2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неплохо работает</a:t>
            </a:r>
            <a:endParaRPr lang="ru-RU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Font typeface="+mj-lt"/>
              <a:buAutoNum type="arabicParenR"/>
            </a:pPr>
            <a:r>
              <a:rPr lang="ru-RU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они примерно одинаково влияют на результат (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alpha </a:t>
            </a:r>
            <a:r>
              <a:rPr lang="ru-RU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немного сильнее)</a:t>
            </a: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Font typeface="+mj-lt"/>
              <a:buAutoNum type="arabicParenR"/>
            </a:pPr>
            <a:r>
              <a:rPr lang="ru-RU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лучше не допускать слишком большой разницы</a:t>
            </a: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Font typeface="+mj-lt"/>
              <a:buAutoNum type="arabicParenR"/>
            </a:pPr>
            <a:r>
              <a:rPr lang="ru-RU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Все гипотезы по типу: 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=2</a:t>
            </a: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не дают большого различия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1057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D2A785-5709-5D71-8F5D-19BC5CC8B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modules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D851D5-CFFE-9E8D-8CD6-BE98B43AB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115" y="5040165"/>
            <a:ext cx="9861223" cy="1700000"/>
          </a:xfrm>
        </p:spPr>
        <p:txBody>
          <a:bodyPr/>
          <a:lstStyle/>
          <a:p>
            <a:pPr marL="0" indent="0">
              <a:buNone/>
            </a:pPr>
            <a:r>
              <a:rPr lang="ru-RU" sz="1800" dirty="0"/>
              <a:t>Основные гипотезы</a:t>
            </a:r>
            <a:r>
              <a:rPr lang="en-US" sz="1800" dirty="0"/>
              <a:t>:</a:t>
            </a:r>
            <a:endParaRPr lang="ru-RU" sz="1800" dirty="0"/>
          </a:p>
          <a:p>
            <a:r>
              <a:rPr lang="en-US" sz="1800" dirty="0"/>
              <a:t>“We limit our study to only adapting the attention weights for downstream tasks and freeze the MLP modules (so they are not trained in downstream tasks) both for simplicity and parameter-efficiency” – Lora paper</a:t>
            </a:r>
          </a:p>
          <a:p>
            <a:r>
              <a:rPr lang="en-US" sz="1800" dirty="0" err="1"/>
              <a:t>Qlora</a:t>
            </a:r>
            <a:r>
              <a:rPr lang="en-US" sz="1800" dirty="0"/>
              <a:t> paper – all layers </a:t>
            </a:r>
            <a:r>
              <a:rPr lang="ru-RU" sz="1800" dirty="0"/>
              <a:t>дает лучшие результаты</a:t>
            </a:r>
          </a:p>
          <a:p>
            <a:pPr marL="0" indent="0">
              <a:buNone/>
            </a:pPr>
            <a:endParaRPr lang="ru-RU" sz="1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D48285-0B60-5B21-6426-BE24CD4C1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32" y="1426351"/>
            <a:ext cx="6197902" cy="3510119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0D980F-370B-F9F5-85B1-5A1F9D48619D}"/>
              </a:ext>
            </a:extLst>
          </p:cNvPr>
          <p:cNvSpPr txBox="1"/>
          <p:nvPr/>
        </p:nvSpPr>
        <p:spPr>
          <a:xfrm>
            <a:off x="7543627" y="1466962"/>
            <a:ext cx="32083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Эксперименты</a:t>
            </a:r>
            <a:r>
              <a:rPr lang="en-US" dirty="0"/>
              <a:t>:</a:t>
            </a:r>
          </a:p>
          <a:p>
            <a:pPr marL="342900" indent="-342900">
              <a:buAutoNum type="arabicParenR"/>
            </a:pPr>
            <a:r>
              <a:rPr lang="en-US" dirty="0" err="1"/>
              <a:t>mrpc</a:t>
            </a:r>
            <a:r>
              <a:rPr lang="en-US" dirty="0"/>
              <a:t>: seed=42, 1, 2</a:t>
            </a:r>
          </a:p>
          <a:p>
            <a:pPr marL="342900" indent="-342900">
              <a:buAutoNum type="arabicParenR"/>
            </a:pPr>
            <a:r>
              <a:rPr lang="en-US" dirty="0" err="1"/>
              <a:t>rte</a:t>
            </a:r>
            <a:r>
              <a:rPr lang="en-US" dirty="0"/>
              <a:t>: seed=5, tm: </a:t>
            </a:r>
            <a:r>
              <a:rPr lang="en-US" dirty="0" err="1"/>
              <a:t>qvk</a:t>
            </a:r>
            <a:r>
              <a:rPr lang="en-US" dirty="0"/>
              <a:t>, qv, </a:t>
            </a:r>
            <a:r>
              <a:rPr lang="en-US" dirty="0" err="1"/>
              <a:t>vk,v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6184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491B26-647F-0D8B-39D7-59F5C0F37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94" y="1362624"/>
            <a:ext cx="5385897" cy="35856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264645-18CC-77B2-7287-F7FB7D729664}"/>
              </a:ext>
            </a:extLst>
          </p:cNvPr>
          <p:cNvSpPr txBox="1"/>
          <p:nvPr/>
        </p:nvSpPr>
        <p:spPr>
          <a:xfrm>
            <a:off x="710102" y="452486"/>
            <a:ext cx="392788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latin typeface="+mj-lt"/>
              </a:rPr>
              <a:t>Target modules LoRa</a:t>
            </a:r>
            <a:endParaRPr lang="ru-RU" sz="3400" dirty="0">
              <a:latin typeface="+mj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F79273A-1819-1E83-C4D2-299852B97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656" y="139920"/>
            <a:ext cx="4631801" cy="30155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1A018B-BC3F-743F-74B4-693CF1792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655" y="3165056"/>
            <a:ext cx="4631801" cy="35856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9688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7458A-54FE-4C2D-2B14-EDB2E309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LoRa target modules</a:t>
            </a:r>
            <a:r>
              <a:rPr lang="ru-RU" dirty="0"/>
              <a:t>: 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B1571F-FBA6-0294-8038-22C096D0F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46443" cy="1502037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arenR"/>
              <a:tabLst>
                <a:tab pos="1530985" algn="l"/>
              </a:tabLs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Сильнее всего на результат влияют модули: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value 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intermediate ff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  <a:tabLst>
                <a:tab pos="1530985" algn="l"/>
              </a:tabLs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среднем, чем больше модулей, к которым применена лора, тем лучше результат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  <a:tabLst>
                <a:tab pos="1530985" algn="l"/>
              </a:tabLst>
            </a:pPr>
            <a:r>
              <a:rPr lang="ru-RU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Рекомендуем применять модули в 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MLP </a:t>
            </a:r>
            <a:r>
              <a:rPr lang="ru-RU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self-attention output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058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503D12-7F1A-F807-198D-806763003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LoRa:</a:t>
            </a:r>
            <a:r>
              <a:rPr lang="ru-RU" dirty="0"/>
              <a:t> скорость от </a:t>
            </a:r>
            <a:r>
              <a:rPr lang="en-US" dirty="0"/>
              <a:t>rank, modules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A1E348-E449-27E4-D20C-8903F4196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875" y="1484627"/>
            <a:ext cx="5937885" cy="3096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6D45B0-C182-8B93-2C73-7C06BCF004B5}"/>
              </a:ext>
            </a:extLst>
          </p:cNvPr>
          <p:cNvSpPr txBox="1"/>
          <p:nvPr/>
        </p:nvSpPr>
        <p:spPr>
          <a:xfrm>
            <a:off x="838200" y="5165889"/>
            <a:ext cx="82702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ru-RU" sz="1800" kern="0" dirty="0">
                <a:effectLst/>
                <a:ea typeface="Times New Roman" panose="02020603050405020304" pitchFamily="18" charset="0"/>
              </a:rPr>
              <a:t>добавление всех модулей может увеличить время обучения примерно на 25%</a:t>
            </a:r>
            <a:endParaRPr lang="en-US" sz="1800" kern="0" dirty="0">
              <a:effectLst/>
              <a:ea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en-US" kern="0" dirty="0"/>
              <a:t>Alpha – </a:t>
            </a:r>
            <a:r>
              <a:rPr lang="ru-RU" kern="0" dirty="0"/>
              <a:t>не влияет</a:t>
            </a:r>
          </a:p>
          <a:p>
            <a:pPr marL="342900" indent="-342900">
              <a:buAutoNum type="arabicParenR"/>
            </a:pPr>
            <a:r>
              <a:rPr lang="en-US" kern="0" dirty="0"/>
              <a:t>Rank – </a:t>
            </a:r>
            <a:r>
              <a:rPr lang="ru-RU" kern="0" dirty="0"/>
              <a:t>до 10%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6839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424359-14F3-8AC8-22BB-93E068F8F1EF}"/>
              </a:ext>
            </a:extLst>
          </p:cNvPr>
          <p:cNvSpPr txBox="1"/>
          <p:nvPr/>
        </p:nvSpPr>
        <p:spPr>
          <a:xfrm>
            <a:off x="1904214" y="735291"/>
            <a:ext cx="870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+mj-lt"/>
              </a:rPr>
              <a:t>Ia3:</a:t>
            </a:r>
            <a:endParaRPr lang="ru-RU" sz="3600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D96EC8-974F-4CE7-C444-7FC9615DE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60" y="1714889"/>
            <a:ext cx="6534440" cy="37620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82D873-A1EA-8808-14C1-5DFFE1B9A4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612" y="204632"/>
            <a:ext cx="4810943" cy="33912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AD1CAE-59DB-6F48-180F-57ED4C4710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612" y="3595931"/>
            <a:ext cx="2797386" cy="30695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93087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7458A-54FE-4C2D-2B14-EDB2E309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Ia3 </a:t>
            </a:r>
            <a:r>
              <a:rPr lang="ru-RU" dirty="0"/>
              <a:t>модули: 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B1571F-FBA6-0294-8038-22C096D0F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46443" cy="2039365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200"/>
              </a:spcAft>
              <a:buFont typeface="+mj-lt"/>
              <a:buAutoNum type="arabicParenR"/>
            </a:pPr>
            <a:r>
              <a:rPr lang="en-US" sz="2200" kern="0" dirty="0" err="1">
                <a:ea typeface="Times New Roman" panose="02020603050405020304" pitchFamily="18" charset="0"/>
              </a:rPr>
              <a:t>qvk</a:t>
            </a:r>
            <a:r>
              <a:rPr lang="en-US" sz="2200" kern="0" dirty="0">
                <a:ea typeface="Times New Roman" panose="02020603050405020304" pitchFamily="18" charset="0"/>
              </a:rPr>
              <a:t>, qv, </a:t>
            </a:r>
            <a:r>
              <a:rPr lang="en-US" sz="2200" kern="0" dirty="0" err="1">
                <a:ea typeface="Times New Roman" panose="02020603050405020304" pitchFamily="18" charset="0"/>
              </a:rPr>
              <a:t>vk</a:t>
            </a:r>
            <a:r>
              <a:rPr lang="en-US" sz="2200" kern="0" dirty="0">
                <a:ea typeface="Times New Roman" panose="02020603050405020304" pitchFamily="18" charset="0"/>
              </a:rPr>
              <a:t> – </a:t>
            </a:r>
            <a:r>
              <a:rPr lang="ru-RU" sz="2200" kern="0" dirty="0">
                <a:ea typeface="Times New Roman" panose="02020603050405020304" pitchFamily="18" charset="0"/>
              </a:rPr>
              <a:t>среди модулей </a:t>
            </a:r>
            <a:r>
              <a:rPr lang="en-US" sz="2200" kern="0" dirty="0">
                <a:ea typeface="Times New Roman" panose="02020603050405020304" pitchFamily="18" charset="0"/>
              </a:rPr>
              <a:t>query, value, key - </a:t>
            </a:r>
            <a:r>
              <a:rPr lang="ru-RU" sz="2200" kern="0" dirty="0">
                <a:ea typeface="Times New Roman" panose="02020603050405020304" pitchFamily="18" charset="0"/>
              </a:rPr>
              <a:t>лучшие</a:t>
            </a:r>
            <a:endParaRPr lang="ru-RU" sz="2200" kern="0" dirty="0">
              <a:effectLst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Font typeface="+mj-lt"/>
              <a:buAutoNum type="arabicParenR"/>
            </a:pPr>
            <a:r>
              <a:rPr lang="ru-RU" sz="2200" kern="0" dirty="0" err="1">
                <a:effectLst/>
                <a:ea typeface="Times New Roman" panose="02020603050405020304" pitchFamily="18" charset="0"/>
              </a:rPr>
              <a:t>intff-outff</a:t>
            </a:r>
            <a:r>
              <a:rPr lang="ru-RU" sz="2200" kern="0" dirty="0">
                <a:effectLst/>
                <a:ea typeface="Times New Roman" panose="02020603050405020304" pitchFamily="18" charset="0"/>
              </a:rPr>
              <a:t> и </a:t>
            </a:r>
            <a:r>
              <a:rPr lang="ru-RU" sz="2200" kern="0" dirty="0" err="1">
                <a:effectLst/>
                <a:ea typeface="Times New Roman" panose="02020603050405020304" pitchFamily="18" charset="0"/>
              </a:rPr>
              <a:t>attff-outff</a:t>
            </a:r>
            <a:r>
              <a:rPr lang="ru-RU" sz="2200" kern="0" dirty="0">
                <a:effectLst/>
                <a:ea typeface="Times New Roman" panose="02020603050405020304" pitchFamily="18" charset="0"/>
              </a:rPr>
              <a:t> – среди остальных – лучшие</a:t>
            </a: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Font typeface="+mj-lt"/>
              <a:buAutoNum type="arabicParenR"/>
            </a:pPr>
            <a:r>
              <a:rPr lang="ru-RU" sz="2200" kern="0" dirty="0">
                <a:ea typeface="Times New Roman" panose="02020603050405020304" pitchFamily="18" charset="0"/>
              </a:rPr>
              <a:t>Добавление</a:t>
            </a:r>
            <a:r>
              <a:rPr lang="en-US" sz="2200" kern="0" dirty="0">
                <a:ea typeface="Times New Roman" panose="02020603050405020304" pitchFamily="18" charset="0"/>
              </a:rPr>
              <a:t> </a:t>
            </a:r>
            <a:r>
              <a:rPr lang="ru-RU" sz="2200" kern="0" dirty="0">
                <a:ea typeface="Times New Roman" panose="02020603050405020304" pitchFamily="18" charset="0"/>
              </a:rPr>
              <a:t>слоев в </a:t>
            </a:r>
            <a:r>
              <a:rPr lang="en-US" sz="2200" kern="0" dirty="0">
                <a:ea typeface="Times New Roman" panose="02020603050405020304" pitchFamily="18" charset="0"/>
              </a:rPr>
              <a:t>feedforward</a:t>
            </a:r>
            <a:r>
              <a:rPr lang="ru-RU" sz="2200" kern="0" dirty="0">
                <a:ea typeface="Times New Roman" panose="02020603050405020304" pitchFamily="18" charset="0"/>
              </a:rPr>
              <a:t> немного улучшает результат</a:t>
            </a:r>
            <a:endParaRPr lang="en-US" sz="2200" kern="0" dirty="0">
              <a:effectLst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Font typeface="+mj-lt"/>
              <a:buAutoNum type="arabicParenR"/>
            </a:pPr>
            <a:r>
              <a:rPr lang="ru-RU" sz="2200" dirty="0"/>
              <a:t>Добавление модулей уменьшает скорость не более, чем на 10%</a:t>
            </a:r>
          </a:p>
        </p:txBody>
      </p:sp>
    </p:spTree>
    <p:extLst>
      <p:ext uri="{BB962C8B-B14F-4D97-AF65-F5344CB8AC3E}">
        <p14:creationId xmlns:p14="http://schemas.microsoft.com/office/powerpoint/2010/main" val="2771240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8AE970-E15C-D809-CA8D-B985D1B1C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AdaLoRa</a:t>
            </a:r>
            <a:r>
              <a:rPr lang="en-US" dirty="0"/>
              <a:t>: </a:t>
            </a:r>
            <a:r>
              <a:rPr lang="ru-RU" dirty="0"/>
              <a:t>модули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AD8293-1EBF-D9E2-2F8B-10C125EA0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015" y="1621409"/>
            <a:ext cx="2814305" cy="38178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201B69-B321-1FE5-6D4A-1E5F69CCE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135" y="1621409"/>
            <a:ext cx="4886893" cy="38178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99513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DBF92-2F9E-00D7-E285-FBFF6EF3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AdaLoRa</a:t>
            </a:r>
            <a:r>
              <a:rPr lang="ru-RU" dirty="0"/>
              <a:t> модули </a:t>
            </a:r>
            <a:r>
              <a:rPr lang="en-US" dirty="0"/>
              <a:t>RTE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0935B9-3E27-3289-E2C2-D339EFEE7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24" y="1817630"/>
            <a:ext cx="5095826" cy="41174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B97BBF-15C2-C30D-BC92-2708C0262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7630"/>
            <a:ext cx="5186058" cy="41174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68658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7458A-54FE-4C2D-2B14-EDB2E309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AdaLoRa</a:t>
            </a:r>
            <a:r>
              <a:rPr lang="en-US" dirty="0"/>
              <a:t> </a:t>
            </a:r>
            <a:r>
              <a:rPr lang="ru-RU" dirty="0"/>
              <a:t>модули: 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B1571F-FBA6-0294-8038-22C096D0F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46443" cy="2039365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200"/>
              </a:spcAft>
              <a:buFont typeface="+mj-lt"/>
              <a:buAutoNum type="arabicParenR"/>
            </a:pPr>
            <a:r>
              <a:rPr lang="en-US" sz="2200" kern="0" dirty="0">
                <a:effectLst/>
                <a:ea typeface="Times New Roman" panose="02020603050405020304" pitchFamily="18" charset="0"/>
              </a:rPr>
              <a:t>All-layers – </a:t>
            </a:r>
            <a:r>
              <a:rPr lang="ru-RU" sz="2200" kern="0" dirty="0">
                <a:effectLst/>
                <a:ea typeface="Times New Roman" panose="02020603050405020304" pitchFamily="18" charset="0"/>
              </a:rPr>
              <a:t>показывает лучшие результаты</a:t>
            </a: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Font typeface="+mj-lt"/>
              <a:buAutoNum type="arabicParenR"/>
            </a:pPr>
            <a:r>
              <a:rPr lang="ru-RU" sz="2200" kern="0" dirty="0"/>
              <a:t>Результаты немного выше, чем в </a:t>
            </a:r>
            <a:r>
              <a:rPr lang="en-US" sz="2200" kern="0" dirty="0"/>
              <a:t>LoRa</a:t>
            </a:r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Font typeface="+mj-lt"/>
              <a:buAutoNum type="arabicParenR"/>
            </a:pPr>
            <a:r>
              <a:rPr lang="ru-RU" sz="2200" dirty="0"/>
              <a:t>Сильнее всего влияют </a:t>
            </a:r>
            <a:r>
              <a:rPr lang="en-US" sz="2200" dirty="0"/>
              <a:t>value </a:t>
            </a:r>
            <a:r>
              <a:rPr lang="ru-RU" sz="2200" dirty="0"/>
              <a:t>и </a:t>
            </a:r>
            <a:r>
              <a:rPr lang="en-US" sz="2200" dirty="0" err="1"/>
              <a:t>intff</a:t>
            </a:r>
            <a:endParaRPr lang="en-US" sz="2200" dirty="0"/>
          </a:p>
          <a:p>
            <a:pPr marL="342900" lvl="0" indent="-342900">
              <a:lnSpc>
                <a:spcPct val="107000"/>
              </a:lnSpc>
              <a:spcAft>
                <a:spcPts val="200"/>
              </a:spcAft>
              <a:buFont typeface="+mj-lt"/>
              <a:buAutoNum type="arabicParenR"/>
            </a:pPr>
            <a:r>
              <a:rPr lang="ru-RU" sz="2200" dirty="0"/>
              <a:t>Добавление всех модулей </a:t>
            </a:r>
            <a:r>
              <a:rPr lang="ru-RU" sz="2200" dirty="0" err="1"/>
              <a:t>модулей</a:t>
            </a:r>
            <a:r>
              <a:rPr lang="ru-RU" sz="2200" dirty="0"/>
              <a:t> уменьшает скорость обучения до 50%</a:t>
            </a:r>
          </a:p>
        </p:txBody>
      </p:sp>
    </p:spTree>
    <p:extLst>
      <p:ext uri="{BB962C8B-B14F-4D97-AF65-F5344CB8AC3E}">
        <p14:creationId xmlns:p14="http://schemas.microsoft.com/office/powerpoint/2010/main" val="42339357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ADBDDC-7104-CA9E-DA5A-D95A99D65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AdaLora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alpha, rank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Баг?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D326C3-FDA2-1A04-FC07-CDDBF6FD8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37" y="1411851"/>
            <a:ext cx="6592257" cy="1521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6F9F79-D8C5-0C9F-B143-26332C2D7D2E}"/>
              </a:ext>
            </a:extLst>
          </p:cNvPr>
          <p:cNvSpPr txBox="1"/>
          <p:nvPr/>
        </p:nvSpPr>
        <p:spPr>
          <a:xfrm>
            <a:off x="7486095" y="2039738"/>
            <a:ext cx="375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 </a:t>
            </a:r>
            <a:r>
              <a:rPr lang="en-US" dirty="0"/>
              <a:t>r </a:t>
            </a:r>
            <a:r>
              <a:rPr lang="ru-RU" dirty="0"/>
              <a:t>не зависит</a:t>
            </a:r>
            <a:r>
              <a:rPr lang="en-US" dirty="0"/>
              <a:t>, </a:t>
            </a:r>
            <a:r>
              <a:rPr lang="ru-RU" dirty="0"/>
              <a:t>нужен </a:t>
            </a:r>
            <a:r>
              <a:rPr lang="en-US" dirty="0" err="1"/>
              <a:t>init_r</a:t>
            </a:r>
            <a:r>
              <a:rPr lang="en-US" dirty="0"/>
              <a:t>, </a:t>
            </a:r>
            <a:r>
              <a:rPr lang="en-US" dirty="0" err="1"/>
              <a:t>target_r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95BECB-5A8B-2F09-621E-9DC4E5794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87139"/>
            <a:ext cx="3299746" cy="30558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FF61FA-064D-E079-0A8C-6D7FC2D097D6}"/>
              </a:ext>
            </a:extLst>
          </p:cNvPr>
          <p:cNvSpPr txBox="1"/>
          <p:nvPr/>
        </p:nvSpPr>
        <p:spPr>
          <a:xfrm>
            <a:off x="1155379" y="3117807"/>
            <a:ext cx="2665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Init_r</a:t>
            </a:r>
            <a:r>
              <a:rPr lang="en-US" dirty="0"/>
              <a:t>, </a:t>
            </a:r>
            <a:r>
              <a:rPr lang="en-US" dirty="0" err="1"/>
              <a:t>target_r</a:t>
            </a:r>
            <a:r>
              <a:rPr lang="ru-RU" dirty="0"/>
              <a:t> </a:t>
            </a:r>
            <a:r>
              <a:rPr lang="ru-RU" dirty="0" err="1"/>
              <a:t>датасет</a:t>
            </a:r>
            <a:r>
              <a:rPr lang="ru-RU" dirty="0"/>
              <a:t> </a:t>
            </a:r>
            <a:r>
              <a:rPr lang="en-US" dirty="0" err="1"/>
              <a:t>rte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CE339E9-A75E-D3AE-3477-5ACEBDEDF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596" y="4825926"/>
            <a:ext cx="3696020" cy="180609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C47CB99-0EA3-A0D1-ADB4-21E5D5C042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596" y="3339897"/>
            <a:ext cx="4351397" cy="148602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ECA05FF-C5E0-C2B1-B695-CF5A1850A7B1}"/>
              </a:ext>
            </a:extLst>
          </p:cNvPr>
          <p:cNvSpPr txBox="1"/>
          <p:nvPr/>
        </p:nvSpPr>
        <p:spPr>
          <a:xfrm>
            <a:off x="8706616" y="4923617"/>
            <a:ext cx="34613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Адалора</a:t>
            </a:r>
            <a:r>
              <a:rPr lang="ru-RU" dirty="0"/>
              <a:t>: </a:t>
            </a:r>
            <a:endParaRPr lang="en-US" dirty="0"/>
          </a:p>
          <a:p>
            <a:r>
              <a:rPr lang="ru-RU" dirty="0"/>
              <a:t>с </a:t>
            </a:r>
            <a:r>
              <a:rPr lang="en-US" dirty="0"/>
              <a:t>    </a:t>
            </a:r>
            <a:r>
              <a:rPr lang="en-US" dirty="0" err="1"/>
              <a:t>update_and_allocate</a:t>
            </a:r>
            <a:endParaRPr lang="en-US" dirty="0"/>
          </a:p>
          <a:p>
            <a:r>
              <a:rPr lang="ru-RU" dirty="0"/>
              <a:t>без </a:t>
            </a:r>
            <a:r>
              <a:rPr lang="en-US" dirty="0" err="1"/>
              <a:t>update_and_allocate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8548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F40098-CABA-6460-98E7-C091BB081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AdaLora</a:t>
            </a:r>
            <a:r>
              <a:rPr lang="en-US" dirty="0"/>
              <a:t> </a:t>
            </a:r>
            <a:r>
              <a:rPr lang="ru-RU" dirty="0"/>
              <a:t>без </a:t>
            </a:r>
            <a:r>
              <a:rPr lang="en-US" dirty="0" err="1"/>
              <a:t>update_and_allocate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36D392-1E3D-1CE6-17EB-69689E547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05976"/>
            <a:ext cx="10516511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834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7B391-22E5-A15E-DB32-51B79F0B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</a:t>
            </a:r>
            <a:r>
              <a:rPr lang="en-US" dirty="0"/>
              <a:t>: GPU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0AE126-4A9E-C779-FDA7-DF0FEC558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45590"/>
            <a:ext cx="5754966" cy="49654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1B471A-850E-8BAB-76B5-A4B316237D73}"/>
              </a:ext>
            </a:extLst>
          </p:cNvPr>
          <p:cNvSpPr txBox="1"/>
          <p:nvPr/>
        </p:nvSpPr>
        <p:spPr>
          <a:xfrm>
            <a:off x="6853287" y="1439453"/>
            <a:ext cx="485363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/>
              <a:t>Нагрузка на </a:t>
            </a:r>
            <a:r>
              <a:rPr lang="en-US" sz="2200" dirty="0"/>
              <a:t>GPU </a:t>
            </a:r>
            <a:r>
              <a:rPr lang="ru-RU" sz="2200" dirty="0"/>
              <a:t>результаты: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200" dirty="0"/>
              <a:t>2/3 от полной разморозки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200" dirty="0"/>
              <a:t>При всех модулях такая же нагрузка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Rank </a:t>
            </a:r>
            <a:r>
              <a:rPr lang="ru-RU" sz="2200" dirty="0"/>
              <a:t>не сильно влияет на нагрузку</a:t>
            </a:r>
          </a:p>
        </p:txBody>
      </p:sp>
    </p:spTree>
    <p:extLst>
      <p:ext uri="{BB962C8B-B14F-4D97-AF65-F5344CB8AC3E}">
        <p14:creationId xmlns:p14="http://schemas.microsoft.com/office/powerpoint/2010/main" val="896805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803938-AC89-3BEC-1520-71801454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157" y="40775"/>
            <a:ext cx="10515600" cy="1325563"/>
          </a:xfrm>
        </p:spPr>
        <p:txBody>
          <a:bodyPr/>
          <a:lstStyle/>
          <a:p>
            <a:r>
              <a:rPr lang="ru-RU" dirty="0"/>
              <a:t>Сравнение: качество</a:t>
            </a:r>
            <a:r>
              <a:rPr lang="en-US" dirty="0"/>
              <a:t>, </a:t>
            </a:r>
            <a:r>
              <a:rPr lang="ru-RU" dirty="0"/>
              <a:t>скорость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74F07F-F03D-9F74-0AB4-1BF6C4FA3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07152"/>
            <a:ext cx="7498293" cy="27802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C0DE1E-92BD-0361-8249-D3853707EAD1}"/>
              </a:ext>
            </a:extLst>
          </p:cNvPr>
          <p:cNvSpPr txBox="1"/>
          <p:nvPr/>
        </p:nvSpPr>
        <p:spPr>
          <a:xfrm>
            <a:off x="8988357" y="1480449"/>
            <a:ext cx="30642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Датасет</a:t>
            </a:r>
            <a:r>
              <a:rPr lang="ru-RU" dirty="0"/>
              <a:t> </a:t>
            </a:r>
            <a:r>
              <a:rPr lang="en-US" dirty="0" err="1"/>
              <a:t>mrpc</a:t>
            </a:r>
            <a:endParaRPr lang="en-US" dirty="0"/>
          </a:p>
          <a:p>
            <a:r>
              <a:rPr lang="ru-RU" dirty="0"/>
              <a:t>Сиды: 10</a:t>
            </a:r>
            <a:r>
              <a:rPr lang="en-US" dirty="0"/>
              <a:t>, 11, 12</a:t>
            </a:r>
          </a:p>
          <a:p>
            <a:r>
              <a:rPr lang="ru-RU" dirty="0"/>
              <a:t>Параметры: вместе с головой для классификации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F345918-AC76-28BC-CFE9-98200989B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19313"/>
            <a:ext cx="4645660" cy="25565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3FD29EB-CEB6-DBD2-AF81-55DC996E6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359" y="4119313"/>
            <a:ext cx="5312824" cy="25387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453509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CBA2C-BDB5-1CBC-A83C-81B96FFCE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717626-9E92-CBED-66A8-1F51E73A4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213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1) Лучше всего себя показывает </a:t>
            </a:r>
            <a:r>
              <a:rPr lang="en-US" sz="2400" dirty="0" err="1"/>
              <a:t>AdaLoRa</a:t>
            </a:r>
            <a:r>
              <a:rPr lang="en-US" sz="2400" dirty="0"/>
              <a:t>, LoRa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Используя </a:t>
            </a:r>
            <a:r>
              <a:rPr lang="en-US" sz="2400" dirty="0"/>
              <a:t>t-</a:t>
            </a:r>
            <a:r>
              <a:rPr lang="ru-RU" sz="2400" dirty="0"/>
              <a:t>критерий: </a:t>
            </a:r>
            <a:r>
              <a:rPr lang="en-US" sz="2400" dirty="0"/>
              <a:t>LoRa &gt; </a:t>
            </a:r>
            <a:r>
              <a:rPr lang="en-US" sz="2400" dirty="0" err="1"/>
              <a:t>FullFt</a:t>
            </a:r>
            <a:r>
              <a:rPr lang="en-US" sz="2400" dirty="0"/>
              <a:t> – </a:t>
            </a:r>
            <a:r>
              <a:rPr lang="ru-RU" sz="2400" dirty="0"/>
              <a:t>стат. значимо</a:t>
            </a:r>
          </a:p>
          <a:p>
            <a:pPr marL="0" indent="0">
              <a:buNone/>
            </a:pPr>
            <a:r>
              <a:rPr lang="en-US" sz="2400" dirty="0" err="1"/>
              <a:t>AdaLora</a:t>
            </a:r>
            <a:r>
              <a:rPr lang="en-US" sz="2400" dirty="0"/>
              <a:t> &gt; Lora – </a:t>
            </a:r>
            <a:r>
              <a:rPr lang="ru-RU" sz="2400" dirty="0"/>
              <a:t>не получили стат. значимость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2) </a:t>
            </a:r>
            <a:r>
              <a:rPr lang="ru-RU" sz="2400" dirty="0"/>
              <a:t>Больше всего времени: полная разморозка и </a:t>
            </a:r>
            <a:r>
              <a:rPr lang="en-US" sz="2400" dirty="0" err="1"/>
              <a:t>AdaLoRa</a:t>
            </a:r>
            <a:r>
              <a:rPr lang="en-US" sz="2400" dirty="0"/>
              <a:t> 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    меньше всего – </a:t>
            </a:r>
            <a:r>
              <a:rPr lang="en-US" sz="2400" dirty="0"/>
              <a:t>ia3 </a:t>
            </a:r>
            <a:r>
              <a:rPr lang="ru-RU" sz="2400" dirty="0"/>
              <a:t>и </a:t>
            </a:r>
            <a:r>
              <a:rPr lang="en-US" sz="2400" dirty="0"/>
              <a:t>lora </a:t>
            </a:r>
            <a:r>
              <a:rPr lang="ru-RU" sz="2400" dirty="0"/>
              <a:t>на 1-2 модулях. До 1.5 раз меньше</a:t>
            </a:r>
          </a:p>
          <a:p>
            <a:pPr marL="0" indent="0">
              <a:buNone/>
            </a:pPr>
            <a:r>
              <a:rPr lang="ru-RU" sz="2400" dirty="0"/>
              <a:t>3) Нагрузка на </a:t>
            </a:r>
            <a:r>
              <a:rPr lang="en-US" sz="2400" dirty="0"/>
              <a:t>GPU: 2/3 </a:t>
            </a:r>
            <a:r>
              <a:rPr lang="ru-RU" sz="2400" dirty="0"/>
              <a:t>от полной разморозки</a:t>
            </a:r>
          </a:p>
          <a:p>
            <a:pPr marL="0" indent="0">
              <a:buNone/>
            </a:pPr>
            <a:r>
              <a:rPr lang="ru-RU" sz="2400" dirty="0"/>
              <a:t>4) </a:t>
            </a:r>
            <a:r>
              <a:rPr lang="en-US" sz="2400" dirty="0"/>
              <a:t>rank: 8 – 64, alpha </a:t>
            </a:r>
            <a:r>
              <a:rPr lang="ru-RU" sz="2400" b="0" i="0" dirty="0">
                <a:solidFill>
                  <a:srgbClr val="040C28"/>
                </a:solidFill>
                <a:effectLst/>
                <a:latin typeface="Google Sans"/>
              </a:rPr>
              <a:t>≈ </a:t>
            </a:r>
            <a:r>
              <a:rPr lang="en-US" sz="2400" b="0" i="0" dirty="0">
                <a:solidFill>
                  <a:srgbClr val="040C28"/>
                </a:solidFill>
                <a:effectLst/>
                <a:latin typeface="Google Sans"/>
              </a:rPr>
              <a:t>rank</a:t>
            </a:r>
            <a:endParaRPr lang="ru-RU" sz="2400" b="0" i="0" dirty="0">
              <a:solidFill>
                <a:srgbClr val="040C28"/>
              </a:solidFill>
              <a:effectLst/>
              <a:latin typeface="Google Sans"/>
            </a:endParaRPr>
          </a:p>
          <a:p>
            <a:pPr marL="0" indent="0">
              <a:buNone/>
            </a:pPr>
            <a:r>
              <a:rPr lang="ru-RU" sz="2400" b="0" i="0" dirty="0">
                <a:solidFill>
                  <a:srgbClr val="040C28"/>
                </a:solidFill>
                <a:effectLst/>
                <a:latin typeface="Google Sans"/>
              </a:rPr>
              <a:t>5) модули: </a:t>
            </a:r>
            <a:r>
              <a:rPr lang="en-US" sz="2400" b="0" i="0" dirty="0">
                <a:solidFill>
                  <a:srgbClr val="040C28"/>
                </a:solidFill>
                <a:effectLst/>
                <a:latin typeface="Google Sans"/>
              </a:rPr>
              <a:t>value </a:t>
            </a:r>
            <a:r>
              <a:rPr lang="ru-RU" sz="2400" b="0" i="0" dirty="0">
                <a:solidFill>
                  <a:srgbClr val="040C28"/>
                </a:solidFill>
                <a:effectLst/>
                <a:latin typeface="Google Sans"/>
              </a:rPr>
              <a:t>и </a:t>
            </a:r>
            <a:r>
              <a:rPr lang="en-US" sz="2400" b="0" i="0" dirty="0" err="1">
                <a:solidFill>
                  <a:srgbClr val="040C28"/>
                </a:solidFill>
                <a:effectLst/>
                <a:latin typeface="Google Sans"/>
              </a:rPr>
              <a:t>intff</a:t>
            </a:r>
            <a:r>
              <a:rPr lang="en-US" sz="2400" b="0" i="0" dirty="0">
                <a:solidFill>
                  <a:srgbClr val="040C28"/>
                </a:solidFill>
                <a:effectLst/>
                <a:latin typeface="Google Sans"/>
              </a:rPr>
              <a:t> – </a:t>
            </a:r>
            <a:r>
              <a:rPr lang="ru-RU" sz="2400" b="0" i="0" dirty="0">
                <a:solidFill>
                  <a:srgbClr val="040C28"/>
                </a:solidFill>
                <a:effectLst/>
                <a:latin typeface="Google Sans"/>
              </a:rPr>
              <a:t>оптимальные время/качество</a:t>
            </a:r>
            <a:r>
              <a:rPr lang="en-US" sz="2400" b="0" i="0" dirty="0">
                <a:solidFill>
                  <a:srgbClr val="040C28"/>
                </a:solidFill>
                <a:effectLst/>
                <a:latin typeface="Google Sans"/>
              </a:rPr>
              <a:t>, all-layers – </a:t>
            </a:r>
            <a:r>
              <a:rPr lang="ru-RU" sz="2400" b="0" i="0" dirty="0">
                <a:solidFill>
                  <a:srgbClr val="040C28"/>
                </a:solidFill>
                <a:effectLst/>
                <a:latin typeface="Google Sans"/>
              </a:rPr>
              <a:t>лучшие результаты</a:t>
            </a:r>
            <a:endParaRPr lang="en-US" sz="2400" b="0" i="0" dirty="0">
              <a:solidFill>
                <a:srgbClr val="040C28"/>
              </a:solidFill>
              <a:effectLst/>
              <a:latin typeface="Google Sans"/>
            </a:endParaRPr>
          </a:p>
          <a:p>
            <a:pPr marL="0" indent="0">
              <a:buNone/>
            </a:pPr>
            <a:endParaRPr lang="en-US" sz="2400" b="0" i="0" dirty="0">
              <a:solidFill>
                <a:srgbClr val="040C28"/>
              </a:solidFill>
              <a:effectLst/>
              <a:latin typeface="Google Sans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81537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1D7F2-0D54-C848-3C7C-75EB91D91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235"/>
            <a:ext cx="10515600" cy="898067"/>
          </a:xfrm>
        </p:spPr>
        <p:txBody>
          <a:bodyPr/>
          <a:lstStyle/>
          <a:p>
            <a:pPr algn="ctr"/>
            <a:r>
              <a:rPr lang="ru-RU" dirty="0"/>
              <a:t>Литература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5B69E7-3CEC-0B11-483A-C9B20C55A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483"/>
            <a:ext cx="11030146" cy="4641977"/>
          </a:xfrm>
        </p:spPr>
        <p:txBody>
          <a:bodyPr>
            <a:normAutofit/>
          </a:bodyPr>
          <a:lstStyle/>
          <a:p>
            <a:r>
              <a:rPr lang="it-IT" sz="2000" dirty="0"/>
              <a:t>https://arxiv.org/pdf/1907.11692.pdf - Roberta paper</a:t>
            </a:r>
          </a:p>
          <a:p>
            <a:r>
              <a:rPr lang="it-IT" sz="2000" dirty="0"/>
              <a:t>https://arxiv.org/pdf/2106.09685.pdf - Lora paper</a:t>
            </a:r>
            <a:endParaRPr lang="ru-RU" sz="2000" dirty="0"/>
          </a:p>
          <a:p>
            <a:r>
              <a:rPr lang="en-US" sz="2000" dirty="0"/>
              <a:t>https://openreview.net/pdf?id=rJ4km2R5t7 - glue paper</a:t>
            </a:r>
          </a:p>
          <a:p>
            <a:r>
              <a:rPr lang="en-US" sz="2000" dirty="0"/>
              <a:t>https://w4ngatang.github.io/static/papers/superglue.pdf - superglue paper</a:t>
            </a:r>
            <a:endParaRPr lang="ru-RU" sz="2000" dirty="0"/>
          </a:p>
          <a:p>
            <a:r>
              <a:rPr lang="en-US" sz="2000" dirty="0"/>
              <a:t>https://arxiv.org/abs/2303.15647 - </a:t>
            </a:r>
            <a:r>
              <a:rPr lang="en-US" sz="2000" dirty="0" err="1"/>
              <a:t>peft</a:t>
            </a:r>
            <a:r>
              <a:rPr lang="en-US" sz="2000" dirty="0"/>
              <a:t> overview </a:t>
            </a:r>
            <a:r>
              <a:rPr lang="en-US" sz="2000" dirty="0" err="1"/>
              <a:t>Lialin</a:t>
            </a:r>
            <a:endParaRPr lang="en-US" sz="2000" dirty="0"/>
          </a:p>
          <a:p>
            <a:r>
              <a:rPr lang="en-US" sz="2000" dirty="0"/>
              <a:t>https://lightning.ai/pages/community/lora-insights - </a:t>
            </a:r>
            <a:r>
              <a:rPr lang="ru-RU" sz="2000" dirty="0" err="1"/>
              <a:t>гиперпараметры</a:t>
            </a:r>
            <a:r>
              <a:rPr lang="ru-RU" sz="2000" dirty="0"/>
              <a:t> </a:t>
            </a:r>
            <a:r>
              <a:rPr lang="en-US" sz="2000" dirty="0" err="1"/>
              <a:t>LoRA</a:t>
            </a:r>
            <a:r>
              <a:rPr lang="en-US" sz="2000" dirty="0"/>
              <a:t> (alpha=2r)</a:t>
            </a:r>
            <a:endParaRPr lang="ru-RU" sz="2000" dirty="0"/>
          </a:p>
          <a:p>
            <a:r>
              <a:rPr lang="en-US" sz="2000" dirty="0"/>
              <a:t>https://www.entrypointai.com/blog/lora-fine-tuning/</a:t>
            </a:r>
            <a:r>
              <a:rPr lang="ru-RU" sz="2000" dirty="0"/>
              <a:t> </a:t>
            </a:r>
          </a:p>
          <a:p>
            <a:r>
              <a:rPr lang="en-US" sz="2000" dirty="0"/>
              <a:t>https://arxiv.org/pdf/2305.14314.pdf – </a:t>
            </a:r>
            <a:r>
              <a:rPr lang="en-US" sz="2000" dirty="0" err="1"/>
              <a:t>qlora</a:t>
            </a:r>
            <a:r>
              <a:rPr lang="en-US" sz="2000" dirty="0"/>
              <a:t> paper</a:t>
            </a:r>
          </a:p>
          <a:p>
            <a:r>
              <a:rPr lang="en-US" sz="2000" dirty="0"/>
              <a:t>https://arxiv.org/pdf/2205.05638.pdf – ia3</a:t>
            </a:r>
            <a:endParaRPr lang="ru-RU" sz="2000" dirty="0"/>
          </a:p>
          <a:p>
            <a:r>
              <a:rPr lang="en-US" sz="2000" dirty="0"/>
              <a:t>https://arxiv.org/pdf/2303.10512.pdf</a:t>
            </a:r>
            <a:r>
              <a:rPr lang="ru-RU" sz="2000" dirty="0"/>
              <a:t> –</a:t>
            </a:r>
            <a:r>
              <a:rPr lang="en-US" sz="2000" dirty="0"/>
              <a:t> </a:t>
            </a:r>
            <a:r>
              <a:rPr lang="en-US" sz="2000" dirty="0" err="1"/>
              <a:t>adalora</a:t>
            </a:r>
            <a:endParaRPr lang="en-US" sz="2000" dirty="0"/>
          </a:p>
          <a:p>
            <a:r>
              <a:rPr lang="en-US" sz="2000" dirty="0"/>
              <a:t>https://arxiv.org/pdf/2012.13255.pdf – low intrinsic dimension</a:t>
            </a:r>
            <a:endParaRPr lang="ru-RU" sz="2000" dirty="0"/>
          </a:p>
          <a:p>
            <a:endParaRPr lang="ru-RU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ru-RU" sz="2200" dirty="0"/>
          </a:p>
          <a:p>
            <a:endParaRPr lang="en-US" sz="2200" dirty="0"/>
          </a:p>
          <a:p>
            <a:endParaRPr lang="ru-RU" sz="2200" dirty="0"/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9550781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1047</Words>
  <Application>Microsoft Office PowerPoint</Application>
  <PresentationFormat>Широкоэкранный</PresentationFormat>
  <Paragraphs>133</Paragraphs>
  <Slides>35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Google Sans</vt:lpstr>
      <vt:lpstr>Times New Roman</vt:lpstr>
      <vt:lpstr>Тема Office</vt:lpstr>
      <vt:lpstr>Исследование методов дообучения языковых моделей малого размера</vt:lpstr>
      <vt:lpstr>Цель исследования</vt:lpstr>
      <vt:lpstr>Постановка задачи:</vt:lpstr>
      <vt:lpstr>Этапы работы:</vt:lpstr>
      <vt:lpstr>Модель: RoBERTa: A Robustly Optimized BERT Pretraining Approach  </vt:lpstr>
      <vt:lpstr>Датасеты: выбраны из GLUE и SuperGlUE</vt:lpstr>
      <vt:lpstr>GLUE</vt:lpstr>
      <vt:lpstr>SuperGLUE</vt:lpstr>
      <vt:lpstr>Датасеты для дообучения</vt:lpstr>
      <vt:lpstr>Методы дообучения:</vt:lpstr>
      <vt:lpstr>Parameter-Efficient Fine-Tuning</vt:lpstr>
      <vt:lpstr>LoRA: Low-Rank Adaptation of LLMs</vt:lpstr>
      <vt:lpstr>IA3</vt:lpstr>
      <vt:lpstr>AdaLora</vt:lpstr>
      <vt:lpstr>Проделанная работа:</vt:lpstr>
      <vt:lpstr>Презентация PowerPoint</vt:lpstr>
      <vt:lpstr>Запущены FullFT, LoRa, Ia3, AdaLoRa</vt:lpstr>
      <vt:lpstr>Проведено более 800 экспериментов: </vt:lpstr>
      <vt:lpstr>Презентация PowerPoint</vt:lpstr>
      <vt:lpstr>LoRa alpha, rank: результаты</vt:lpstr>
      <vt:lpstr>Target modules</vt:lpstr>
      <vt:lpstr>Презентация PowerPoint</vt:lpstr>
      <vt:lpstr>LoRa target modules: результаты</vt:lpstr>
      <vt:lpstr>LoRa: скорость от rank, modules</vt:lpstr>
      <vt:lpstr>Презентация PowerPoint</vt:lpstr>
      <vt:lpstr>Ia3 модули: результаты</vt:lpstr>
      <vt:lpstr>AdaLoRa: модули</vt:lpstr>
      <vt:lpstr>AdaLoRa модули RTE</vt:lpstr>
      <vt:lpstr>AdaLoRa модули: результаты</vt:lpstr>
      <vt:lpstr>AdaLora: alpha, rank. Баг?</vt:lpstr>
      <vt:lpstr>AdaLora без update_and_allocate</vt:lpstr>
      <vt:lpstr>Сравнение: GPU</vt:lpstr>
      <vt:lpstr>Сравнение: качество, скорость</vt:lpstr>
      <vt:lpstr>Выводы:</vt:lpstr>
      <vt:lpstr>Литература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Исследование методов дообучения языковых моделей малого размера</dc:title>
  <dc:creator>Кратков</dc:creator>
  <cp:lastModifiedBy>glinich27@gmail.com</cp:lastModifiedBy>
  <cp:revision>34</cp:revision>
  <dcterms:created xsi:type="dcterms:W3CDTF">2023-12-20T13:24:33Z</dcterms:created>
  <dcterms:modified xsi:type="dcterms:W3CDTF">2024-06-21T09:03:24Z</dcterms:modified>
</cp:coreProperties>
</file>